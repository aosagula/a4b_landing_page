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555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reúne cinco proyectos implementados por Agentic4Biz en empresas de logística, comercio exterior y distribución. Cada caso se presenta con el desafío inicial del cliente, la solución desarrollada y los resultados obtenidos.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proyectos comparten una misma metodología: relevamiento de la operación, ordenamiento del proceso y definición de indicadores, y recién entonces la automatización o el desarrollo de la solución. Este enfoque evita que la tecnología amplifique problemas preexistentes.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VACLOG se desarrolló una plataforma de trazabilidad de despachos de importación. El sistema centraliza la información de cada operación, su documentación asociada y los cambios de estado, y emite alertas ante desvíos. El resultado principal es una visión unificada y en tiempo real de todas las operaciones en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segundo proyecto con VACLOG consistió en un workspace de clientes que integra la administración de ventas, compras, remitos y recepciones. La solución elimina la duplicación de datos entre herramientas y ofrece un punto único de consulta para el equipo y los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Uranga Trading opera en la exportación de productos agropecuarios. Se implementó un portal que integra la gestión de ventas, la documentación de exportación y el seguimiento de embarques, lo que permite controlar cada operación de punta a punta y reducir el riesgo de errores en la documentación.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Las Margaritas se desarrolló un sistema de gestión logística que ordena la planificación de entregas, la asignación de pedidos y el seguimiento de la distribución. El equipo cuenta ahora con información actualizada sobre el estado de cada entrega, lo que reduce demoras y mejora el control operativo.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Dasdach se automatizó el circuito de facturación. La solución toma los datos desde el sistema de origen, aplica validaciones y emite los comprobantes sin intervención manual, lo que libera tiempo del equipo administrativo y reduce errores de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A2B3D-388B-91D5-49BB-120F9EFE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82B1B-EDAA-5E95-BC30-6F74C731C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60CC6-0130-3AEA-88EF-AC6054349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Dasdach se automatizó el circuito de facturación. La solución toma los datos desde el sistema de origen, aplica validaciones y emite los comprobantes sin intervención manual, lo que libera tiempo del equipo administrativo y reduce errores de carga.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C5D27-FCD3-20BC-E776-7621BE851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15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B34D-BBB3-753D-E457-01AFE1C32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635C0-EE57-02AA-6E15-1989E53B2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E219C-14F8-28BF-64F5-0E8F6E488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Dasdach se automatizó el circuito de facturación. La solución toma los datos desde el sistema de origen, aplica validaciones y emite los comprobantes sin intervención manual, lo que libera tiempo del equipo administrativo y reduce errores de carga.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2832E-A8EB-F3CA-070F-603168D1B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7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invita a la audiencia a coordinar una reunión inicial para relevar su desafío operativo y evaluar un camino de trabajo con indicadores de éxito definidos desde el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"/>
            <a:ext cx="2743200" cy="42730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kern="0" spc="4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ÉXITO</a:t>
            </a:r>
            <a:endParaRPr lang="es-AR" sz="1100" noProof="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32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Proyectos reales,</a:t>
            </a:r>
            <a:endParaRPr lang="es-AR" sz="32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32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 concretos.</a:t>
            </a:r>
            <a:endParaRPr lang="es-AR" sz="32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AR" sz="120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ayudamos a empresas de logística, comercio exterior y distribución a ordenar, integrar y automatizar su operación.</a:t>
            </a:r>
            <a:endParaRPr lang="es-AR" sz="1200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www.agentic4biz.com   |   @agentic4biz</a:t>
            </a:r>
            <a:endParaRPr lang="es-AR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>
            <a:extLst>
              <a:ext uri="{FF2B5EF4-FFF2-40B4-BE49-F238E27FC236}">
                <a16:creationId xmlns:a16="http://schemas.microsoft.com/office/drawing/2014/main" id="{4E318FC7-D192-E0BB-48F3-CF8F1980C3CA}"/>
              </a:ext>
            </a:extLst>
          </p:cNvPr>
          <p:cNvSpPr/>
          <p:nvPr/>
        </p:nvSpPr>
        <p:spPr>
          <a:xfrm>
            <a:off x="4297680" y="1668424"/>
            <a:ext cx="4297680" cy="439682"/>
          </a:xfrm>
          <a:prstGeom prst="roundRect">
            <a:avLst>
              <a:gd name="adj" fmla="val 1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36D0C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 sz="1400" noProof="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EB6BB3E5-456A-39F3-06D3-30399E916E60}"/>
              </a:ext>
            </a:extLst>
          </p:cNvPr>
          <p:cNvSpPr/>
          <p:nvPr/>
        </p:nvSpPr>
        <p:spPr>
          <a:xfrm>
            <a:off x="4297680" y="2250093"/>
            <a:ext cx="4297680" cy="439682"/>
          </a:xfrm>
          <a:prstGeom prst="roundRect">
            <a:avLst>
              <a:gd name="adj" fmla="val 1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36D0C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 sz="1400" noProof="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3114A28C-603F-BF16-D2B1-9ABEE262BA02}"/>
              </a:ext>
            </a:extLst>
          </p:cNvPr>
          <p:cNvSpPr/>
          <p:nvPr/>
        </p:nvSpPr>
        <p:spPr>
          <a:xfrm>
            <a:off x="4297680" y="2783928"/>
            <a:ext cx="4297680" cy="439682"/>
          </a:xfrm>
          <a:prstGeom prst="roundRect">
            <a:avLst>
              <a:gd name="adj" fmla="val 1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36D0C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 sz="1400" noProof="0" dirty="0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16A29C20-BD1B-4F40-AFB7-D2732E9928D9}"/>
              </a:ext>
            </a:extLst>
          </p:cNvPr>
          <p:cNvSpPr/>
          <p:nvPr/>
        </p:nvSpPr>
        <p:spPr>
          <a:xfrm>
            <a:off x="4309403" y="3297309"/>
            <a:ext cx="4297680" cy="439682"/>
          </a:xfrm>
          <a:prstGeom prst="roundRect">
            <a:avLst>
              <a:gd name="adj" fmla="val 1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36D0C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 sz="1400" noProof="0" dirty="0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28520E16-1E9E-1381-967A-070DF1B71D4C}"/>
              </a:ext>
            </a:extLst>
          </p:cNvPr>
          <p:cNvSpPr/>
          <p:nvPr/>
        </p:nvSpPr>
        <p:spPr>
          <a:xfrm>
            <a:off x="4309403" y="3856784"/>
            <a:ext cx="4297680" cy="439682"/>
          </a:xfrm>
          <a:prstGeom prst="roundRect">
            <a:avLst>
              <a:gd name="adj" fmla="val 1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36D0C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 sz="1400" noProof="0" dirty="0"/>
          </a:p>
        </p:txBody>
      </p:sp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</a:t>
            </a:r>
            <a:endParaRPr lang="es-AR" sz="10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Siete proyectos,</a:t>
            </a:r>
            <a:endParaRPr lang="es-AR" sz="24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mismo enfoque.</a:t>
            </a:r>
            <a:endParaRPr lang="es-AR" sz="2400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s-AR" sz="12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cada caso seguimos el mismo método: entender la operación, ordenar el proceso y recién después automatizar. Así, la tecnología acelera la eficiencia y no el desorden.</a:t>
            </a:r>
            <a:endParaRPr lang="es-AR" sz="1250" noProof="0" dirty="0"/>
          </a:p>
        </p:txBody>
      </p:sp>
      <p:sp>
        <p:nvSpPr>
          <p:cNvPr id="7" name="Shape 4"/>
          <p:cNvSpPr/>
          <p:nvPr/>
        </p:nvSpPr>
        <p:spPr>
          <a:xfrm>
            <a:off x="4297680" y="1117293"/>
            <a:ext cx="4297680" cy="439682"/>
          </a:xfrm>
          <a:prstGeom prst="roundRect">
            <a:avLst>
              <a:gd name="adj" fmla="val 1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36D0C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 sz="14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093764"/>
            <a:ext cx="457200" cy="45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s-AR" sz="14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5074920" y="1086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700" b="1" kern="0" spc="2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VACLOG</a:t>
            </a:r>
            <a:endParaRPr lang="es-AR" sz="7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1269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 de despachos de importación</a:t>
            </a:r>
            <a:endParaRPr lang="es-AR" sz="1000" noProof="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572764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s-AR" sz="1400" noProof="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16642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700" b="1" kern="0" spc="2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VACLOG</a:t>
            </a:r>
            <a:endParaRPr lang="es-AR" sz="700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18470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noProof="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Workspace</a:t>
            </a:r>
            <a:r>
              <a:rPr lang="es-AR" sz="1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clientes</a:t>
            </a:r>
            <a:endParaRPr lang="es-AR" sz="1000" noProof="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136178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s-AR" sz="1400" noProof="0" dirty="0"/>
          </a:p>
        </p:txBody>
      </p:sp>
      <p:sp>
        <p:nvSpPr>
          <p:cNvPr id="17" name="Text 14"/>
          <p:cNvSpPr txBox="1"/>
          <p:nvPr/>
        </p:nvSpPr>
        <p:spPr>
          <a:xfrm>
            <a:off x="5074920" y="222761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700" b="1" kern="0" spc="2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URANGA TRADING</a:t>
            </a:r>
            <a:endParaRPr lang="es-AR" sz="700" noProof="0" dirty="0"/>
          </a:p>
        </p:txBody>
      </p:sp>
      <p:sp>
        <p:nvSpPr>
          <p:cNvPr id="18" name="Text 15"/>
          <p:cNvSpPr txBox="1"/>
          <p:nvPr/>
        </p:nvSpPr>
        <p:spPr>
          <a:xfrm>
            <a:off x="5074920" y="241049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exportaciones</a:t>
            </a:r>
            <a:endParaRPr lang="es-AR" sz="1000" noProof="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2706623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s-AR" sz="1400" noProof="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2798063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700" b="1" kern="0" spc="2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MARGARITAS</a:t>
            </a:r>
            <a:endParaRPr lang="es-AR" sz="700" noProof="0" dirty="0"/>
          </a:p>
        </p:txBody>
      </p:sp>
      <p:sp>
        <p:nvSpPr>
          <p:cNvPr id="22" name="Text 19"/>
          <p:cNvSpPr txBox="1"/>
          <p:nvPr/>
        </p:nvSpPr>
        <p:spPr>
          <a:xfrm>
            <a:off x="5074920" y="2980943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logística</a:t>
            </a:r>
            <a:endParaRPr lang="es-AR" sz="1000" noProof="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3192659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s-AR" sz="1400" noProof="0" dirty="0"/>
          </a:p>
        </p:txBody>
      </p:sp>
      <p:sp>
        <p:nvSpPr>
          <p:cNvPr id="25" name="Text 22"/>
          <p:cNvSpPr txBox="1"/>
          <p:nvPr/>
        </p:nvSpPr>
        <p:spPr>
          <a:xfrm>
            <a:off x="5074920" y="3284099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700" b="1" kern="0" spc="2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DASDACH</a:t>
            </a:r>
            <a:endParaRPr lang="es-AR" sz="700" noProof="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3466979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Automatización de facturación</a:t>
            </a:r>
            <a:endParaRPr lang="es-AR" sz="1000" noProof="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FA1EACB4-B5DD-1466-A08B-601C408F7E5B}"/>
              </a:ext>
            </a:extLst>
          </p:cNvPr>
          <p:cNvSpPr txBox="1"/>
          <p:nvPr/>
        </p:nvSpPr>
        <p:spPr>
          <a:xfrm>
            <a:off x="4480560" y="3747395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s-AR" sz="1400" noProof="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40F230BF-2058-38BE-98D0-0DE2E6DA4E8E}"/>
              </a:ext>
            </a:extLst>
          </p:cNvPr>
          <p:cNvSpPr txBox="1"/>
          <p:nvPr/>
        </p:nvSpPr>
        <p:spPr>
          <a:xfrm>
            <a:off x="5074920" y="3838835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700" b="1" kern="0" spc="200" dirty="0">
                <a:solidFill>
                  <a:srgbClr val="21A8E8"/>
                </a:solidFill>
                <a:latin typeface="Inter" pitchFamily="34" charset="0"/>
                <a:ea typeface="Inter" pitchFamily="34" charset="-122"/>
              </a:rPr>
              <a:t>COOP. TABACALERA JUJUY</a:t>
            </a:r>
            <a:endParaRPr lang="es-AR" sz="700" noProof="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6FB8C234-AEE9-B31D-C83E-A8DB4DA48C93}"/>
              </a:ext>
            </a:extLst>
          </p:cNvPr>
          <p:cNvSpPr txBox="1"/>
          <p:nvPr/>
        </p:nvSpPr>
        <p:spPr>
          <a:xfrm>
            <a:off x="5074920" y="4021715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Trazabilidad del Tabaco</a:t>
            </a:r>
            <a:endParaRPr lang="es-AR" sz="1000" noProof="0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6C0FDCF5-FABE-981C-BBCC-F474E8C288E8}"/>
              </a:ext>
            </a:extLst>
          </p:cNvPr>
          <p:cNvSpPr/>
          <p:nvPr/>
        </p:nvSpPr>
        <p:spPr>
          <a:xfrm>
            <a:off x="4321123" y="4381980"/>
            <a:ext cx="4297680" cy="439682"/>
          </a:xfrm>
          <a:prstGeom prst="roundRect">
            <a:avLst>
              <a:gd name="adj" fmla="val 1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36D0C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AR" sz="1400" noProof="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DCB8B34B-BB1A-ED49-D23F-EB557064F1D1}"/>
              </a:ext>
            </a:extLst>
          </p:cNvPr>
          <p:cNvSpPr txBox="1"/>
          <p:nvPr/>
        </p:nvSpPr>
        <p:spPr>
          <a:xfrm>
            <a:off x="5086640" y="4364031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700" b="1" kern="0" spc="200" dirty="0">
                <a:solidFill>
                  <a:srgbClr val="21A8E8"/>
                </a:solidFill>
                <a:latin typeface="Inter" pitchFamily="34" charset="0"/>
                <a:ea typeface="Inter" pitchFamily="34" charset="-122"/>
              </a:rPr>
              <a:t>VACLOG</a:t>
            </a:r>
            <a:endParaRPr lang="es-AR" sz="700" noProof="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B3315191-FB40-FE64-3028-0F312A9631C3}"/>
              </a:ext>
            </a:extLst>
          </p:cNvPr>
          <p:cNvSpPr txBox="1"/>
          <p:nvPr/>
        </p:nvSpPr>
        <p:spPr>
          <a:xfrm>
            <a:off x="5086640" y="4546911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 de Gestores</a:t>
            </a:r>
            <a:endParaRPr lang="es-AR" sz="1000" noProof="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F6896079-5529-083C-3BD3-BE0E91116D78}"/>
              </a:ext>
            </a:extLst>
          </p:cNvPr>
          <p:cNvSpPr txBox="1"/>
          <p:nvPr/>
        </p:nvSpPr>
        <p:spPr>
          <a:xfrm>
            <a:off x="4485249" y="4296466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s-AR" sz="14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01  ·  VACLOG</a:t>
            </a:r>
            <a:endParaRPr lang="es-AR" sz="10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0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 de despachos</a:t>
            </a:r>
            <a:endParaRPr lang="es-AR" sz="20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0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importación/exportación.</a:t>
            </a:r>
            <a:endParaRPr lang="es-AR" sz="20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112264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</a:t>
            </a:r>
            <a:endParaRPr lang="es-AR" sz="1100" noProof="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2240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ct val="110000"/>
              </a:lnSpc>
              <a:buNone/>
              <a:defRPr sz="95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r>
              <a:rPr lang="es-AR" noProof="0" dirty="0"/>
              <a:t>Las operaciones de comercio exterior inician en los clientes, se tramitan en diferentes organismos gubernamentales, agentes logísticos, aduanas, </a:t>
            </a:r>
            <a:r>
              <a:rPr lang="es-AR" noProof="0" dirty="0" err="1"/>
              <a:t>etc</a:t>
            </a:r>
            <a:r>
              <a:rPr lang="es-AR" noProof="0" dirty="0"/>
              <a:t> cada uno con sus sistemas.</a:t>
            </a:r>
          </a:p>
        </p:txBody>
      </p:sp>
      <p:sp>
        <p:nvSpPr>
          <p:cNvPr id="10" name="Shape 6"/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endParaRPr lang="es-AR" sz="1100" noProof="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web que centraliza cada despacho, su documentación y sus estados, con historial completo y alertas automáticas.</a:t>
            </a:r>
            <a:endParaRPr lang="es-AR" sz="950" noProof="0" dirty="0"/>
          </a:p>
        </p:txBody>
      </p:sp>
      <p:sp>
        <p:nvSpPr>
          <p:cNvPr id="14" name="Shape 9"/>
          <p:cNvSpPr/>
          <p:nvPr/>
        </p:nvSpPr>
        <p:spPr>
          <a:xfrm>
            <a:off x="548640" y="3712464"/>
            <a:ext cx="402336" cy="40233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81304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6941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s-AR" sz="1100" noProof="0" dirty="0"/>
          </a:p>
        </p:txBody>
      </p:sp>
      <p:sp>
        <p:nvSpPr>
          <p:cNvPr id="17" name="Text 11"/>
          <p:cNvSpPr txBox="1"/>
          <p:nvPr/>
        </p:nvSpPr>
        <p:spPr>
          <a:xfrm>
            <a:off x="1097280" y="39410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Visibilidad en tiempo real de todos los despachos, menos consultas manuales y detección temprana de demoras.</a:t>
            </a:r>
            <a:endParaRPr lang="es-AR" sz="950" noProof="0" dirty="0"/>
          </a:p>
        </p:txBody>
      </p:sp>
      <p:sp>
        <p:nvSpPr>
          <p:cNvPr id="18" name="Shape 12"/>
          <p:cNvSpPr/>
          <p:nvPr/>
        </p:nvSpPr>
        <p:spPr>
          <a:xfrm>
            <a:off x="466344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6D0CC">
                <a:alpha val="65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Shape 13"/>
          <p:cNvSpPr/>
          <p:nvPr/>
        </p:nvSpPr>
        <p:spPr>
          <a:xfrm>
            <a:off x="4809744" y="1197864"/>
            <a:ext cx="82296" cy="82296"/>
          </a:xfrm>
          <a:prstGeom prst="ellipse">
            <a:avLst/>
          </a:prstGeom>
          <a:solidFill>
            <a:srgbClr val="36D0CC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4"/>
          <p:cNvSpPr/>
          <p:nvPr/>
        </p:nvSpPr>
        <p:spPr>
          <a:xfrm>
            <a:off x="4946904" y="1197864"/>
            <a:ext cx="82296" cy="8229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21A8E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Shape 15"/>
          <p:cNvSpPr/>
          <p:nvPr/>
        </p:nvSpPr>
        <p:spPr>
          <a:xfrm>
            <a:off x="5084064" y="1197864"/>
            <a:ext cx="82296" cy="8229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0F56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16"/>
          <p:cNvSpPr/>
          <p:nvPr/>
        </p:nvSpPr>
        <p:spPr>
          <a:xfrm>
            <a:off x="4663440" y="1380744"/>
            <a:ext cx="3931920" cy="0"/>
          </a:xfrm>
          <a:prstGeom prst="line">
            <a:avLst/>
          </a:prstGeom>
          <a:noFill/>
          <a:ln w="9525">
            <a:solidFill>
              <a:srgbClr val="36D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Shape 17"/>
          <p:cNvSpPr/>
          <p:nvPr/>
        </p:nvSpPr>
        <p:spPr>
          <a:xfrm>
            <a:off x="4727448" y="1444752"/>
            <a:ext cx="3803904" cy="2331720"/>
          </a:xfrm>
          <a:prstGeom prst="roundRect">
            <a:avLst>
              <a:gd name="adj" fmla="val 2353"/>
            </a:avLst>
          </a:prstGeom>
          <a:solidFill>
            <a:srgbClr val="0A1E5E">
              <a:alpha val="60000"/>
            </a:srgbClr>
          </a:solidFill>
          <a:ln w="9525">
            <a:solidFill>
              <a:srgbClr val="36D0CC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22656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27448" y="27020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reservado para captura del sistema</a:t>
            </a:r>
            <a:endParaRPr lang="es-AR" sz="1000" noProof="0" dirty="0"/>
          </a:p>
        </p:txBody>
      </p:sp>
      <p:sp>
        <p:nvSpPr>
          <p:cNvPr id="26" name="Shape 19"/>
          <p:cNvSpPr/>
          <p:nvPr/>
        </p:nvSpPr>
        <p:spPr>
          <a:xfrm>
            <a:off x="4663440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web</a:t>
            </a:r>
            <a:endParaRPr lang="es-AR" sz="900" noProof="0" dirty="0"/>
          </a:p>
        </p:txBody>
      </p:sp>
      <p:sp>
        <p:nvSpPr>
          <p:cNvPr id="28" name="Shape 21"/>
          <p:cNvSpPr/>
          <p:nvPr/>
        </p:nvSpPr>
        <p:spPr>
          <a:xfrm>
            <a:off x="5815584" y="4096512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Text 22"/>
          <p:cNvSpPr txBox="1"/>
          <p:nvPr/>
        </p:nvSpPr>
        <p:spPr>
          <a:xfrm>
            <a:off x="5815584" y="409651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</a:t>
            </a:r>
            <a:endParaRPr lang="es-AR" sz="900" noProof="0" dirty="0"/>
          </a:p>
        </p:txBody>
      </p:sp>
      <p:sp>
        <p:nvSpPr>
          <p:cNvPr id="30" name="Shape 23"/>
          <p:cNvSpPr/>
          <p:nvPr/>
        </p:nvSpPr>
        <p:spPr>
          <a:xfrm>
            <a:off x="6858000" y="4096512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Text 24"/>
          <p:cNvSpPr txBox="1"/>
          <p:nvPr/>
        </p:nvSpPr>
        <p:spPr>
          <a:xfrm>
            <a:off x="6858000" y="409651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Comercio exterior</a:t>
            </a:r>
            <a:endParaRPr lang="es-AR" sz="900" noProof="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04DE3F08-319E-7D0B-7CDC-BE4BDF3638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976" y="1671766"/>
            <a:ext cx="3730376" cy="1763743"/>
          </a:xfrm>
          <a:prstGeom prst="rect">
            <a:avLst/>
          </a:prstGeom>
        </p:spPr>
      </p:pic>
      <p:sp>
        <p:nvSpPr>
          <p:cNvPr id="37" name="Shape 23">
            <a:extLst>
              <a:ext uri="{FF2B5EF4-FFF2-40B4-BE49-F238E27FC236}">
                <a16:creationId xmlns:a16="http://schemas.microsoft.com/office/drawing/2014/main" id="{5970A9DD-A9D1-E937-67B6-2EF85A12AA1A}"/>
              </a:ext>
            </a:extLst>
          </p:cNvPr>
          <p:cNvSpPr/>
          <p:nvPr/>
        </p:nvSpPr>
        <p:spPr>
          <a:xfrm>
            <a:off x="4663440" y="454152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4F29F992-8D31-5FA1-678A-793269A1C0C0}"/>
              </a:ext>
            </a:extLst>
          </p:cNvPr>
          <p:cNvSpPr txBox="1"/>
          <p:nvPr/>
        </p:nvSpPr>
        <p:spPr>
          <a:xfrm>
            <a:off x="4663440" y="45415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Integraciones</a:t>
            </a:r>
            <a:endParaRPr lang="es-AR" sz="900" noProof="0" dirty="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13D8CD0-8196-5B6C-C5F8-BD50A6AD333B}"/>
              </a:ext>
            </a:extLst>
          </p:cNvPr>
          <p:cNvSpPr/>
          <p:nvPr/>
        </p:nvSpPr>
        <p:spPr>
          <a:xfrm>
            <a:off x="6018628" y="4546975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CF053862-9E89-F437-F432-FCCD8C873953}"/>
              </a:ext>
            </a:extLst>
          </p:cNvPr>
          <p:cNvSpPr txBox="1"/>
          <p:nvPr/>
        </p:nvSpPr>
        <p:spPr>
          <a:xfrm>
            <a:off x="6018628" y="4546975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</a:t>
            </a: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Process </a:t>
            </a:r>
            <a:r>
              <a:rPr lang="es-AR" sz="900" b="1" noProof="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s-AR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02  ·  VACLOG</a:t>
            </a:r>
            <a:endParaRPr lang="es-AR" sz="10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Workspace</a:t>
            </a:r>
            <a:endParaRPr lang="es-AR" sz="22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clientes.</a:t>
            </a:r>
            <a:endParaRPr lang="es-AR" sz="22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112264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</a:t>
            </a:r>
            <a:endParaRPr lang="es-AR" sz="1100" noProof="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2240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Ventas, compras, remitos y recepciones se gestionaban en herramientas separadas, con datos duplicados y difíciles de consultar.</a:t>
            </a:r>
            <a:endParaRPr lang="es-AR" sz="950" noProof="0" dirty="0"/>
          </a:p>
        </p:txBody>
      </p:sp>
      <p:sp>
        <p:nvSpPr>
          <p:cNvPr id="10" name="Shape 6"/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endParaRPr lang="es-AR" sz="1100" noProof="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espacio de trabajo único para administrar ventas, compras, remitos y recepciones de cada cliente desde un mismo lugar.</a:t>
            </a:r>
            <a:endParaRPr lang="es-AR" sz="950" noProof="0" dirty="0"/>
          </a:p>
        </p:txBody>
      </p:sp>
      <p:sp>
        <p:nvSpPr>
          <p:cNvPr id="14" name="Shape 9"/>
          <p:cNvSpPr/>
          <p:nvPr/>
        </p:nvSpPr>
        <p:spPr>
          <a:xfrm>
            <a:off x="548640" y="3712464"/>
            <a:ext cx="402336" cy="40233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81304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6941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s-AR" sz="1100" noProof="0" dirty="0"/>
          </a:p>
        </p:txBody>
      </p:sp>
      <p:sp>
        <p:nvSpPr>
          <p:cNvPr id="17" name="Text 11"/>
          <p:cNvSpPr txBox="1"/>
          <p:nvPr/>
        </p:nvSpPr>
        <p:spPr>
          <a:xfrm>
            <a:off x="1097280" y="39410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unificada, menos carga duplicada y acceso directo al estado de cada operación.</a:t>
            </a:r>
            <a:endParaRPr lang="es-AR" sz="950" noProof="0" dirty="0"/>
          </a:p>
        </p:txBody>
      </p:sp>
      <p:sp>
        <p:nvSpPr>
          <p:cNvPr id="18" name="Shape 12"/>
          <p:cNvSpPr/>
          <p:nvPr/>
        </p:nvSpPr>
        <p:spPr>
          <a:xfrm>
            <a:off x="466344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6D0CC">
                <a:alpha val="65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Shape 13"/>
          <p:cNvSpPr/>
          <p:nvPr/>
        </p:nvSpPr>
        <p:spPr>
          <a:xfrm>
            <a:off x="4809744" y="1197864"/>
            <a:ext cx="82296" cy="82296"/>
          </a:xfrm>
          <a:prstGeom prst="ellipse">
            <a:avLst/>
          </a:prstGeom>
          <a:solidFill>
            <a:srgbClr val="36D0CC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4"/>
          <p:cNvSpPr/>
          <p:nvPr/>
        </p:nvSpPr>
        <p:spPr>
          <a:xfrm>
            <a:off x="4946904" y="1197864"/>
            <a:ext cx="82296" cy="8229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21A8E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Shape 15"/>
          <p:cNvSpPr/>
          <p:nvPr/>
        </p:nvSpPr>
        <p:spPr>
          <a:xfrm>
            <a:off x="5084064" y="1197864"/>
            <a:ext cx="82296" cy="8229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0F56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16"/>
          <p:cNvSpPr/>
          <p:nvPr/>
        </p:nvSpPr>
        <p:spPr>
          <a:xfrm>
            <a:off x="4663440" y="1380744"/>
            <a:ext cx="3931920" cy="0"/>
          </a:xfrm>
          <a:prstGeom prst="line">
            <a:avLst/>
          </a:prstGeom>
          <a:noFill/>
          <a:ln w="9525">
            <a:solidFill>
              <a:srgbClr val="36D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Shape 17"/>
          <p:cNvSpPr/>
          <p:nvPr/>
        </p:nvSpPr>
        <p:spPr>
          <a:xfrm>
            <a:off x="4727448" y="1444752"/>
            <a:ext cx="3803904" cy="2331720"/>
          </a:xfrm>
          <a:prstGeom prst="roundRect">
            <a:avLst>
              <a:gd name="adj" fmla="val 2353"/>
            </a:avLst>
          </a:prstGeom>
          <a:solidFill>
            <a:srgbClr val="0A1E5E">
              <a:alpha val="60000"/>
            </a:srgbClr>
          </a:solidFill>
          <a:ln w="9525">
            <a:solidFill>
              <a:srgbClr val="36D0CC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22656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27448" y="27020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reservado para captura del sistema</a:t>
            </a:r>
            <a:endParaRPr lang="es-AR" sz="1000" noProof="0" dirty="0"/>
          </a:p>
        </p:txBody>
      </p:sp>
      <p:sp>
        <p:nvSpPr>
          <p:cNvPr id="26" name="Shape 19"/>
          <p:cNvSpPr/>
          <p:nvPr/>
        </p:nvSpPr>
        <p:spPr>
          <a:xfrm>
            <a:off x="4663440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web</a:t>
            </a:r>
            <a:endParaRPr lang="es-AR" sz="900" noProof="0" dirty="0"/>
          </a:p>
        </p:txBody>
      </p:sp>
      <p:sp>
        <p:nvSpPr>
          <p:cNvPr id="28" name="Shape 21"/>
          <p:cNvSpPr/>
          <p:nvPr/>
        </p:nvSpPr>
        <p:spPr>
          <a:xfrm>
            <a:off x="5815584" y="409651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Text 22"/>
          <p:cNvSpPr txBox="1"/>
          <p:nvPr/>
        </p:nvSpPr>
        <p:spPr>
          <a:xfrm>
            <a:off x="5815584" y="4096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de clientes</a:t>
            </a:r>
            <a:endParaRPr lang="es-AR" sz="900" noProof="0" dirty="0"/>
          </a:p>
        </p:txBody>
      </p:sp>
      <p:sp>
        <p:nvSpPr>
          <p:cNvPr id="30" name="Shape 23"/>
          <p:cNvSpPr/>
          <p:nvPr/>
        </p:nvSpPr>
        <p:spPr>
          <a:xfrm>
            <a:off x="7187184" y="4096512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Text 24"/>
          <p:cNvSpPr txBox="1"/>
          <p:nvPr/>
        </p:nvSpPr>
        <p:spPr>
          <a:xfrm>
            <a:off x="7187184" y="409651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operativa</a:t>
            </a:r>
            <a:endParaRPr lang="es-AR" sz="900" noProof="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F150E454-BFF0-4A54-6EED-5DDEB8E63C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1719260"/>
            <a:ext cx="3635795" cy="1499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03  ·  URANGA TRADING</a:t>
            </a:r>
            <a:endParaRPr lang="es-AR" sz="10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</a:t>
            </a:r>
            <a:endParaRPr lang="es-AR" sz="22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exportaciones.</a:t>
            </a:r>
            <a:endParaRPr lang="es-AR" sz="22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112264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</a:t>
            </a:r>
            <a:endParaRPr lang="es-AR" sz="1100" noProof="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2240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exportación agropecuaria implicaba contratos de ventas, documentación y embarques dispersos entre mails y planillas, documentos compartidos que todos modificaban.</a:t>
            </a:r>
            <a:endParaRPr lang="es-AR" sz="950" noProof="0" dirty="0"/>
          </a:p>
        </p:txBody>
      </p:sp>
      <p:sp>
        <p:nvSpPr>
          <p:cNvPr id="10" name="Shape 6"/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endParaRPr lang="es-AR" sz="1100" noProof="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que centraliza la gestión comercial, la documentación de exportación y el seguimiento de cada embarque. Para uso interno y de los compradores de la empresa.</a:t>
            </a:r>
            <a:endParaRPr lang="es-AR" sz="950" noProof="0" dirty="0"/>
          </a:p>
        </p:txBody>
      </p:sp>
      <p:sp>
        <p:nvSpPr>
          <p:cNvPr id="14" name="Shape 9"/>
          <p:cNvSpPr/>
          <p:nvPr/>
        </p:nvSpPr>
        <p:spPr>
          <a:xfrm>
            <a:off x="548640" y="3712464"/>
            <a:ext cx="402336" cy="40233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81304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6941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s-AR" sz="1100" noProof="0" dirty="0"/>
          </a:p>
        </p:txBody>
      </p:sp>
      <p:sp>
        <p:nvSpPr>
          <p:cNvPr id="17" name="Text 11"/>
          <p:cNvSpPr txBox="1"/>
          <p:nvPr/>
        </p:nvSpPr>
        <p:spPr>
          <a:xfrm>
            <a:off x="1097280" y="39410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 completa de cada operación, respuestas más ágiles a clientes y menos riesgo de errores documentales.</a:t>
            </a:r>
            <a:endParaRPr lang="es-AR" sz="950" noProof="0" dirty="0"/>
          </a:p>
        </p:txBody>
      </p:sp>
      <p:sp>
        <p:nvSpPr>
          <p:cNvPr id="18" name="Shape 12"/>
          <p:cNvSpPr/>
          <p:nvPr/>
        </p:nvSpPr>
        <p:spPr>
          <a:xfrm>
            <a:off x="466344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6D0CC">
                <a:alpha val="65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Shape 13"/>
          <p:cNvSpPr/>
          <p:nvPr/>
        </p:nvSpPr>
        <p:spPr>
          <a:xfrm>
            <a:off x="4809744" y="1197864"/>
            <a:ext cx="82296" cy="82296"/>
          </a:xfrm>
          <a:prstGeom prst="ellipse">
            <a:avLst/>
          </a:prstGeom>
          <a:solidFill>
            <a:srgbClr val="36D0CC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4"/>
          <p:cNvSpPr/>
          <p:nvPr/>
        </p:nvSpPr>
        <p:spPr>
          <a:xfrm>
            <a:off x="4946904" y="1197864"/>
            <a:ext cx="82296" cy="8229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21A8E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Shape 15"/>
          <p:cNvSpPr/>
          <p:nvPr/>
        </p:nvSpPr>
        <p:spPr>
          <a:xfrm>
            <a:off x="5084064" y="1197864"/>
            <a:ext cx="82296" cy="8229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0F56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16"/>
          <p:cNvSpPr/>
          <p:nvPr/>
        </p:nvSpPr>
        <p:spPr>
          <a:xfrm>
            <a:off x="4663440" y="1380744"/>
            <a:ext cx="3931920" cy="0"/>
          </a:xfrm>
          <a:prstGeom prst="line">
            <a:avLst/>
          </a:prstGeom>
          <a:noFill/>
          <a:ln w="9525">
            <a:solidFill>
              <a:srgbClr val="36D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Shape 17"/>
          <p:cNvSpPr/>
          <p:nvPr/>
        </p:nvSpPr>
        <p:spPr>
          <a:xfrm>
            <a:off x="4727448" y="1444752"/>
            <a:ext cx="3803904" cy="2331720"/>
          </a:xfrm>
          <a:prstGeom prst="roundRect">
            <a:avLst>
              <a:gd name="adj" fmla="val 2353"/>
            </a:avLst>
          </a:prstGeom>
          <a:solidFill>
            <a:srgbClr val="0A1E5E">
              <a:alpha val="60000"/>
            </a:srgbClr>
          </a:solidFill>
          <a:ln w="9525">
            <a:solidFill>
              <a:srgbClr val="36D0CC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22656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27448" y="27020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reservado para captura del sistema</a:t>
            </a:r>
            <a:endParaRPr lang="es-AR" sz="1000" noProof="0" dirty="0"/>
          </a:p>
        </p:txBody>
      </p:sp>
      <p:sp>
        <p:nvSpPr>
          <p:cNvPr id="26" name="Shape 19"/>
          <p:cNvSpPr/>
          <p:nvPr/>
        </p:nvSpPr>
        <p:spPr>
          <a:xfrm>
            <a:off x="4663440" y="4096512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409651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web</a:t>
            </a:r>
            <a:endParaRPr lang="es-AR" sz="900" noProof="0" dirty="0"/>
          </a:p>
        </p:txBody>
      </p:sp>
      <p:sp>
        <p:nvSpPr>
          <p:cNvPr id="28" name="Shape 21"/>
          <p:cNvSpPr/>
          <p:nvPr/>
        </p:nvSpPr>
        <p:spPr>
          <a:xfrm>
            <a:off x="5596128" y="4096512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Text 22"/>
          <p:cNvSpPr txBox="1"/>
          <p:nvPr/>
        </p:nvSpPr>
        <p:spPr>
          <a:xfrm>
            <a:off x="5596128" y="409651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Seguimiento de embarques</a:t>
            </a:r>
            <a:endParaRPr lang="es-AR" sz="900" noProof="0" dirty="0"/>
          </a:p>
        </p:txBody>
      </p:sp>
      <p:sp>
        <p:nvSpPr>
          <p:cNvPr id="30" name="Shape 23"/>
          <p:cNvSpPr/>
          <p:nvPr/>
        </p:nvSpPr>
        <p:spPr>
          <a:xfrm>
            <a:off x="7296912" y="4096512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Text 24"/>
          <p:cNvSpPr txBox="1"/>
          <p:nvPr/>
        </p:nvSpPr>
        <p:spPr>
          <a:xfrm>
            <a:off x="7296912" y="409651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Agroexportación</a:t>
            </a:r>
            <a:endParaRPr lang="es-AR" sz="900" noProof="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FC1459B8-AC25-D281-7B43-3A5D97654D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892" y="1725930"/>
            <a:ext cx="3529348" cy="1691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04  ·  LAS MARGARITAS</a:t>
            </a:r>
            <a:endParaRPr lang="es-AR" sz="10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</a:t>
            </a:r>
            <a:endParaRPr lang="es-AR" sz="22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logística.</a:t>
            </a:r>
            <a:endParaRPr lang="es-AR" sz="22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112264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</a:t>
            </a:r>
            <a:endParaRPr lang="es-AR" sz="1100" noProof="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2240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planificación de entregas y el seguimiento de la distribución dependían de coordinación manual y comunicación informal.</a:t>
            </a:r>
            <a:endParaRPr lang="es-AR" sz="950" noProof="0" dirty="0"/>
          </a:p>
        </p:txBody>
      </p:sp>
      <p:sp>
        <p:nvSpPr>
          <p:cNvPr id="10" name="Shape 6"/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endParaRPr lang="es-AR" sz="1100" noProof="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para planificar, asignar y seguir pedidos y entregas, con estados actualizados para todo el equipo.</a:t>
            </a:r>
            <a:endParaRPr lang="es-AR" sz="950" noProof="0" dirty="0"/>
          </a:p>
        </p:txBody>
      </p:sp>
      <p:sp>
        <p:nvSpPr>
          <p:cNvPr id="14" name="Shape 9"/>
          <p:cNvSpPr/>
          <p:nvPr/>
        </p:nvSpPr>
        <p:spPr>
          <a:xfrm>
            <a:off x="548640" y="3712464"/>
            <a:ext cx="402336" cy="40233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81304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6941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s-AR" sz="1100" noProof="0" dirty="0"/>
          </a:p>
        </p:txBody>
      </p:sp>
      <p:sp>
        <p:nvSpPr>
          <p:cNvPr id="17" name="Text 11"/>
          <p:cNvSpPr txBox="1"/>
          <p:nvPr/>
        </p:nvSpPr>
        <p:spPr>
          <a:xfrm>
            <a:off x="1097280" y="39410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control de la operación, menos demoras por falta de información y visibilidad del estado de cada entrega.</a:t>
            </a:r>
            <a:endParaRPr lang="es-AR" sz="950" noProof="0" dirty="0"/>
          </a:p>
        </p:txBody>
      </p:sp>
      <p:sp>
        <p:nvSpPr>
          <p:cNvPr id="18" name="Shape 12"/>
          <p:cNvSpPr/>
          <p:nvPr/>
        </p:nvSpPr>
        <p:spPr>
          <a:xfrm>
            <a:off x="466344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6D0CC">
                <a:alpha val="65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Shape 13"/>
          <p:cNvSpPr/>
          <p:nvPr/>
        </p:nvSpPr>
        <p:spPr>
          <a:xfrm>
            <a:off x="4809744" y="1197864"/>
            <a:ext cx="82296" cy="82296"/>
          </a:xfrm>
          <a:prstGeom prst="ellipse">
            <a:avLst/>
          </a:prstGeom>
          <a:solidFill>
            <a:srgbClr val="36D0CC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4"/>
          <p:cNvSpPr/>
          <p:nvPr/>
        </p:nvSpPr>
        <p:spPr>
          <a:xfrm>
            <a:off x="4946904" y="1197864"/>
            <a:ext cx="82296" cy="8229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21A8E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Shape 15"/>
          <p:cNvSpPr/>
          <p:nvPr/>
        </p:nvSpPr>
        <p:spPr>
          <a:xfrm>
            <a:off x="5084064" y="1197864"/>
            <a:ext cx="82296" cy="8229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0F56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16"/>
          <p:cNvSpPr/>
          <p:nvPr/>
        </p:nvSpPr>
        <p:spPr>
          <a:xfrm>
            <a:off x="4663440" y="1380744"/>
            <a:ext cx="3931920" cy="0"/>
          </a:xfrm>
          <a:prstGeom prst="line">
            <a:avLst/>
          </a:prstGeom>
          <a:noFill/>
          <a:ln w="9525">
            <a:solidFill>
              <a:srgbClr val="36D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Shape 17"/>
          <p:cNvSpPr/>
          <p:nvPr/>
        </p:nvSpPr>
        <p:spPr>
          <a:xfrm>
            <a:off x="4727448" y="1444752"/>
            <a:ext cx="3803904" cy="2331720"/>
          </a:xfrm>
          <a:prstGeom prst="roundRect">
            <a:avLst>
              <a:gd name="adj" fmla="val 2353"/>
            </a:avLst>
          </a:prstGeom>
          <a:solidFill>
            <a:srgbClr val="0A1E5E">
              <a:alpha val="60000"/>
            </a:srgbClr>
          </a:solidFill>
          <a:ln w="9525">
            <a:solidFill>
              <a:srgbClr val="36D0CC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22656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27448" y="27020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reservado para captura del sistema</a:t>
            </a:r>
            <a:endParaRPr lang="es-AR" sz="1000" noProof="0" dirty="0"/>
          </a:p>
        </p:txBody>
      </p:sp>
      <p:sp>
        <p:nvSpPr>
          <p:cNvPr id="26" name="Shape 19"/>
          <p:cNvSpPr/>
          <p:nvPr/>
        </p:nvSpPr>
        <p:spPr>
          <a:xfrm>
            <a:off x="4663440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web</a:t>
            </a:r>
            <a:endParaRPr lang="es-AR" sz="900" noProof="0" dirty="0"/>
          </a:p>
        </p:txBody>
      </p:sp>
      <p:sp>
        <p:nvSpPr>
          <p:cNvPr id="28" name="Shape 21"/>
          <p:cNvSpPr/>
          <p:nvPr/>
        </p:nvSpPr>
        <p:spPr>
          <a:xfrm>
            <a:off x="5815584" y="4096512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Text 22"/>
          <p:cNvSpPr txBox="1"/>
          <p:nvPr/>
        </p:nvSpPr>
        <p:spPr>
          <a:xfrm>
            <a:off x="5815584" y="409651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Logística</a:t>
            </a:r>
            <a:endParaRPr lang="es-AR" sz="900" noProof="0" dirty="0"/>
          </a:p>
        </p:txBody>
      </p:sp>
      <p:sp>
        <p:nvSpPr>
          <p:cNvPr id="30" name="Shape 23"/>
          <p:cNvSpPr/>
          <p:nvPr/>
        </p:nvSpPr>
        <p:spPr>
          <a:xfrm>
            <a:off x="6693408" y="409651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Text 24"/>
          <p:cNvSpPr txBox="1"/>
          <p:nvPr/>
        </p:nvSpPr>
        <p:spPr>
          <a:xfrm>
            <a:off x="6693408" y="40965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Tablero de gestión</a:t>
            </a:r>
            <a:endParaRPr lang="es-AR" sz="900" noProof="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D4A13081-3819-5E29-1C40-7CA4D94C50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8662" y="1688905"/>
            <a:ext cx="3486611" cy="1666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05  ·  DASDACH</a:t>
            </a:r>
            <a:endParaRPr lang="es-AR" sz="10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Automatización</a:t>
            </a:r>
            <a:endParaRPr lang="es-AR" sz="22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facturación.</a:t>
            </a:r>
            <a:endParaRPr lang="es-AR" sz="22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112264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</a:t>
            </a:r>
            <a:endParaRPr lang="es-AR" sz="1100" noProof="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2240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emisión de facturas requería carga manual y repetitiva de datos, con riesgo de errores en importes e impuestos.</a:t>
            </a:r>
            <a:endParaRPr lang="es-AR" sz="950" noProof="0" dirty="0"/>
          </a:p>
        </p:txBody>
      </p:sp>
      <p:sp>
        <p:nvSpPr>
          <p:cNvPr id="10" name="Shape 6"/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endParaRPr lang="es-AR" sz="1100" noProof="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del circuito: los datos se toman del sistema de origen, se validan y se emiten los comprobantes sin carga manual y un robot realiza las operaciones manuales para la emisión y envío de las facturas.</a:t>
            </a:r>
            <a:endParaRPr lang="es-AR" sz="950" noProof="0" dirty="0"/>
          </a:p>
        </p:txBody>
      </p:sp>
      <p:sp>
        <p:nvSpPr>
          <p:cNvPr id="14" name="Shape 9"/>
          <p:cNvSpPr/>
          <p:nvPr/>
        </p:nvSpPr>
        <p:spPr>
          <a:xfrm>
            <a:off x="548640" y="3803906"/>
            <a:ext cx="402336" cy="40233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90449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78561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s-AR" sz="1100" noProof="0" dirty="0"/>
          </a:p>
        </p:txBody>
      </p:sp>
      <p:sp>
        <p:nvSpPr>
          <p:cNvPr id="17" name="Text 11"/>
          <p:cNvSpPr txBox="1"/>
          <p:nvPr/>
        </p:nvSpPr>
        <p:spPr>
          <a:xfrm>
            <a:off x="1097280" y="403250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Horas administrativas liberadas, menos errores y facturación en tiempo y forma.</a:t>
            </a:r>
            <a:endParaRPr lang="es-AR" sz="950" noProof="0" dirty="0"/>
          </a:p>
        </p:txBody>
      </p:sp>
      <p:sp>
        <p:nvSpPr>
          <p:cNvPr id="18" name="Shape 12"/>
          <p:cNvSpPr/>
          <p:nvPr/>
        </p:nvSpPr>
        <p:spPr>
          <a:xfrm>
            <a:off x="466344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6D0CC">
                <a:alpha val="65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Shape 13"/>
          <p:cNvSpPr/>
          <p:nvPr/>
        </p:nvSpPr>
        <p:spPr>
          <a:xfrm>
            <a:off x="4809744" y="1197864"/>
            <a:ext cx="82296" cy="82296"/>
          </a:xfrm>
          <a:prstGeom prst="ellipse">
            <a:avLst/>
          </a:prstGeom>
          <a:solidFill>
            <a:srgbClr val="36D0CC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4"/>
          <p:cNvSpPr/>
          <p:nvPr/>
        </p:nvSpPr>
        <p:spPr>
          <a:xfrm>
            <a:off x="4946904" y="1197864"/>
            <a:ext cx="82296" cy="8229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21A8E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Shape 15"/>
          <p:cNvSpPr/>
          <p:nvPr/>
        </p:nvSpPr>
        <p:spPr>
          <a:xfrm>
            <a:off x="5084064" y="1197864"/>
            <a:ext cx="82296" cy="8229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0F56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16"/>
          <p:cNvSpPr/>
          <p:nvPr/>
        </p:nvSpPr>
        <p:spPr>
          <a:xfrm>
            <a:off x="4663440" y="1380744"/>
            <a:ext cx="3931920" cy="0"/>
          </a:xfrm>
          <a:prstGeom prst="line">
            <a:avLst/>
          </a:prstGeom>
          <a:noFill/>
          <a:ln w="9525">
            <a:solidFill>
              <a:srgbClr val="36D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Shape 17"/>
          <p:cNvSpPr/>
          <p:nvPr/>
        </p:nvSpPr>
        <p:spPr>
          <a:xfrm>
            <a:off x="4727448" y="1444752"/>
            <a:ext cx="3803904" cy="2331720"/>
          </a:xfrm>
          <a:prstGeom prst="roundRect">
            <a:avLst>
              <a:gd name="adj" fmla="val 2353"/>
            </a:avLst>
          </a:prstGeom>
          <a:solidFill>
            <a:srgbClr val="0A1E5E">
              <a:alpha val="60000"/>
            </a:srgbClr>
          </a:solidFill>
          <a:ln w="9525">
            <a:solidFill>
              <a:srgbClr val="36D0CC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22656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27448" y="27020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reservado para captura del sistema</a:t>
            </a:r>
            <a:endParaRPr lang="es-AR" sz="1000" noProof="0" dirty="0"/>
          </a:p>
        </p:txBody>
      </p:sp>
      <p:sp>
        <p:nvSpPr>
          <p:cNvPr id="26" name="Shape 19"/>
          <p:cNvSpPr/>
          <p:nvPr/>
        </p:nvSpPr>
        <p:spPr>
          <a:xfrm>
            <a:off x="4663440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</a:t>
            </a:r>
            <a:endParaRPr lang="es-AR" sz="900" noProof="0" dirty="0"/>
          </a:p>
        </p:txBody>
      </p:sp>
      <p:sp>
        <p:nvSpPr>
          <p:cNvPr id="28" name="Shape 21"/>
          <p:cNvSpPr/>
          <p:nvPr/>
        </p:nvSpPr>
        <p:spPr>
          <a:xfrm>
            <a:off x="5815584" y="40965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Text 22"/>
          <p:cNvSpPr txBox="1"/>
          <p:nvPr/>
        </p:nvSpPr>
        <p:spPr>
          <a:xfrm>
            <a:off x="5815584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de sistemas</a:t>
            </a:r>
            <a:endParaRPr lang="es-AR" sz="900" noProof="0" dirty="0"/>
          </a:p>
        </p:txBody>
      </p:sp>
      <p:sp>
        <p:nvSpPr>
          <p:cNvPr id="30" name="Shape 23"/>
          <p:cNvSpPr/>
          <p:nvPr/>
        </p:nvSpPr>
        <p:spPr>
          <a:xfrm>
            <a:off x="7461504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Text 24"/>
          <p:cNvSpPr txBox="1"/>
          <p:nvPr/>
        </p:nvSpPr>
        <p:spPr>
          <a:xfrm>
            <a:off x="7461504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Administración</a:t>
            </a:r>
            <a:endParaRPr lang="es-AR" sz="900" noProof="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F8C5000D-B596-468C-1B67-66628CA499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9147" y="1684701"/>
            <a:ext cx="3647401" cy="1709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9C2B0-8557-34D3-865B-31EB3B9A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>
            <a:extLst>
              <a:ext uri="{FF2B5EF4-FFF2-40B4-BE49-F238E27FC236}">
                <a16:creationId xmlns:a16="http://schemas.microsoft.com/office/drawing/2014/main" id="{4921D9DF-5273-AA35-14EA-119FDA867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98D371E-CC30-6F75-F625-1AA533438638}"/>
              </a:ext>
            </a:extLst>
          </p:cNvPr>
          <p:cNvSpPr txBox="1"/>
          <p:nvPr/>
        </p:nvSpPr>
        <p:spPr>
          <a:xfrm>
            <a:off x="54864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06  ·  </a:t>
            </a:r>
            <a:r>
              <a:rPr lang="es-AR" sz="1000" b="1" kern="0" spc="30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COOP. TABACALERA JUJUY</a:t>
            </a:r>
            <a:endParaRPr lang="es-AR" sz="10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19D4966-27A4-00AB-EC35-CEB681F0AFA4}"/>
              </a:ext>
            </a:extLst>
          </p:cNvPr>
          <p:cNvSpPr txBox="1"/>
          <p:nvPr/>
        </p:nvSpPr>
        <p:spPr>
          <a:xfrm>
            <a:off x="54864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</a:t>
            </a:r>
            <a:endParaRPr lang="es-AR" sz="22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 Tabaco.</a:t>
            </a:r>
            <a:endParaRPr lang="es-AR" sz="2200" noProof="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D653BD5-ED39-3C2D-E394-4E99DE589775}"/>
              </a:ext>
            </a:extLst>
          </p:cNvPr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2A6DDFD5-1F17-F58F-AAAE-F898D3FF0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112264"/>
            <a:ext cx="201168" cy="20116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C69957C0-65D8-E068-A802-349F574FCF26}"/>
              </a:ext>
            </a:extLst>
          </p:cNvPr>
          <p:cNvSpPr txBox="1"/>
          <p:nvPr/>
        </p:nvSpPr>
        <p:spPr>
          <a:xfrm>
            <a:off x="10972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</a:t>
            </a:r>
            <a:endParaRPr lang="es-AR" sz="1100" noProof="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A3CB347-07EB-940C-729D-97CA8F324AC0}"/>
              </a:ext>
            </a:extLst>
          </p:cNvPr>
          <p:cNvSpPr txBox="1"/>
          <p:nvPr/>
        </p:nvSpPr>
        <p:spPr>
          <a:xfrm>
            <a:off x="1097280" y="2240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fardos de tabaco de calidad eran falsificados en las diferentes etapas del proceso logístico de las operaciones</a:t>
            </a:r>
            <a:endParaRPr lang="es-AR" sz="950" noProof="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6D2C271-16E0-0DC7-DEED-071E210B6C77}"/>
              </a:ext>
            </a:extLst>
          </p:cNvPr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309B4A66-0E75-1054-5BB2-156788311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962656"/>
            <a:ext cx="201168" cy="201168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3BF33950-8DCF-6EFF-C49A-695D2B20C108}"/>
              </a:ext>
            </a:extLst>
          </p:cNvPr>
          <p:cNvSpPr txBox="1"/>
          <p:nvPr/>
        </p:nvSpPr>
        <p:spPr>
          <a:xfrm>
            <a:off x="109728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endParaRPr lang="es-AR" sz="1100" noProof="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7A7D655-A572-1F58-3737-CC31B9A5F000}"/>
              </a:ext>
            </a:extLst>
          </p:cNvPr>
          <p:cNvSpPr txBox="1"/>
          <p:nvPr/>
        </p:nvSpPr>
        <p:spPr>
          <a:xfrm>
            <a:off x="10972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Identificación de cada Fardo de Tabaco con una etiqueta de RFID y la incorporación en la trazabilidad de Blockchain.</a:t>
            </a:r>
            <a:endParaRPr lang="es-AR" sz="950" noProof="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4AC486E-2723-C000-E032-DDBCF7C62A35}"/>
              </a:ext>
            </a:extLst>
          </p:cNvPr>
          <p:cNvSpPr/>
          <p:nvPr/>
        </p:nvSpPr>
        <p:spPr>
          <a:xfrm>
            <a:off x="548640" y="3803906"/>
            <a:ext cx="402336" cy="40233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CEB8E9FD-C3C9-350F-2C87-C40D2584C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904490"/>
            <a:ext cx="201168" cy="201168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7F9DA0C3-AB64-CD38-4E4A-2499D7FA4779}"/>
              </a:ext>
            </a:extLst>
          </p:cNvPr>
          <p:cNvSpPr txBox="1"/>
          <p:nvPr/>
        </p:nvSpPr>
        <p:spPr>
          <a:xfrm>
            <a:off x="1097280" y="378561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s-AR" sz="1100" noProof="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1C52BDA-E684-3EE6-89E6-6F2C70299D9C}"/>
              </a:ext>
            </a:extLst>
          </p:cNvPr>
          <p:cNvSpPr txBox="1"/>
          <p:nvPr/>
        </p:nvSpPr>
        <p:spPr>
          <a:xfrm>
            <a:off x="1097280" y="403250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Horas administrativas liberadas, menos errores y facturación en tiempo y forma.</a:t>
            </a:r>
            <a:endParaRPr lang="es-AR" sz="950" noProof="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8C3FBE3-CB2F-6AC8-20E5-A2332B028C15}"/>
              </a:ext>
            </a:extLst>
          </p:cNvPr>
          <p:cNvSpPr/>
          <p:nvPr/>
        </p:nvSpPr>
        <p:spPr>
          <a:xfrm>
            <a:off x="466344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6D0CC">
                <a:alpha val="65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43F58799-28CD-6252-D8C7-69A1F99DA33D}"/>
              </a:ext>
            </a:extLst>
          </p:cNvPr>
          <p:cNvSpPr/>
          <p:nvPr/>
        </p:nvSpPr>
        <p:spPr>
          <a:xfrm>
            <a:off x="4809744" y="1197864"/>
            <a:ext cx="82296" cy="82296"/>
          </a:xfrm>
          <a:prstGeom prst="ellipse">
            <a:avLst/>
          </a:prstGeom>
          <a:solidFill>
            <a:srgbClr val="36D0CC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998FDBFF-EFA7-5B62-0F4D-BDE9CA0A678A}"/>
              </a:ext>
            </a:extLst>
          </p:cNvPr>
          <p:cNvSpPr/>
          <p:nvPr/>
        </p:nvSpPr>
        <p:spPr>
          <a:xfrm>
            <a:off x="4946904" y="1197864"/>
            <a:ext cx="82296" cy="8229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21A8E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57FA43F5-12B5-D7BC-F02E-8E64EBC38F6E}"/>
              </a:ext>
            </a:extLst>
          </p:cNvPr>
          <p:cNvSpPr/>
          <p:nvPr/>
        </p:nvSpPr>
        <p:spPr>
          <a:xfrm>
            <a:off x="5084064" y="1197864"/>
            <a:ext cx="82296" cy="8229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0F56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9CF7C2D7-72EC-F6A1-738B-4BCE0756C7BB}"/>
              </a:ext>
            </a:extLst>
          </p:cNvPr>
          <p:cNvSpPr/>
          <p:nvPr/>
        </p:nvSpPr>
        <p:spPr>
          <a:xfrm>
            <a:off x="4663440" y="1380744"/>
            <a:ext cx="3931920" cy="0"/>
          </a:xfrm>
          <a:prstGeom prst="line">
            <a:avLst/>
          </a:prstGeom>
          <a:noFill/>
          <a:ln w="9525">
            <a:solidFill>
              <a:srgbClr val="36D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319890B-F689-5B88-2347-DEF4818B3872}"/>
              </a:ext>
            </a:extLst>
          </p:cNvPr>
          <p:cNvSpPr/>
          <p:nvPr/>
        </p:nvSpPr>
        <p:spPr>
          <a:xfrm>
            <a:off x="4727448" y="1444752"/>
            <a:ext cx="3803904" cy="2331720"/>
          </a:xfrm>
          <a:prstGeom prst="roundRect">
            <a:avLst>
              <a:gd name="adj" fmla="val 2353"/>
            </a:avLst>
          </a:prstGeom>
          <a:solidFill>
            <a:srgbClr val="0A1E5E">
              <a:alpha val="60000"/>
            </a:srgbClr>
          </a:solidFill>
          <a:ln w="9525">
            <a:solidFill>
              <a:srgbClr val="36D0CC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CF6CF311-5A34-B6EC-BA5C-8A2B6446E5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226564"/>
            <a:ext cx="384048" cy="384048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76ED7D10-1DE2-1E12-CAAB-FB07CB510BE6}"/>
              </a:ext>
            </a:extLst>
          </p:cNvPr>
          <p:cNvSpPr txBox="1"/>
          <p:nvPr/>
        </p:nvSpPr>
        <p:spPr>
          <a:xfrm>
            <a:off x="4727448" y="27020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reservado para captura del sistema</a:t>
            </a:r>
            <a:endParaRPr lang="es-AR" sz="1000" noProof="0" dirty="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EB07BDB8-B187-F002-764A-496EB46F4EE7}"/>
              </a:ext>
            </a:extLst>
          </p:cNvPr>
          <p:cNvSpPr/>
          <p:nvPr/>
        </p:nvSpPr>
        <p:spPr>
          <a:xfrm>
            <a:off x="4663440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350429E6-3733-9903-D4E5-2B4D9858963C}"/>
              </a:ext>
            </a:extLst>
          </p:cNvPr>
          <p:cNvSpPr txBox="1"/>
          <p:nvPr/>
        </p:nvSpPr>
        <p:spPr>
          <a:xfrm>
            <a:off x="4663440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</a:t>
            </a:r>
            <a:endParaRPr lang="es-AR" sz="900" noProof="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928A1B45-4AC5-E175-A7F9-F5052BDC109C}"/>
              </a:ext>
            </a:extLst>
          </p:cNvPr>
          <p:cNvSpPr/>
          <p:nvPr/>
        </p:nvSpPr>
        <p:spPr>
          <a:xfrm>
            <a:off x="5815584" y="40965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D80FFBD0-FD5F-22F1-18C7-D256DECFB79A}"/>
              </a:ext>
            </a:extLst>
          </p:cNvPr>
          <p:cNvSpPr txBox="1"/>
          <p:nvPr/>
        </p:nvSpPr>
        <p:spPr>
          <a:xfrm>
            <a:off x="5815584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de sistemas</a:t>
            </a:r>
            <a:endParaRPr lang="es-AR" sz="900" noProof="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07764DF6-0469-B6F5-6434-3216A08649E3}"/>
              </a:ext>
            </a:extLst>
          </p:cNvPr>
          <p:cNvSpPr/>
          <p:nvPr/>
        </p:nvSpPr>
        <p:spPr>
          <a:xfrm>
            <a:off x="7461504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2DBEC1BA-EDDD-4779-0503-7EE8C4F0FB9F}"/>
              </a:ext>
            </a:extLst>
          </p:cNvPr>
          <p:cNvSpPr txBox="1"/>
          <p:nvPr/>
        </p:nvSpPr>
        <p:spPr>
          <a:xfrm>
            <a:off x="7461504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Administración</a:t>
            </a:r>
            <a:endParaRPr lang="es-AR" sz="900" noProof="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E48D4E62-2B07-63F5-C823-717FEAE3F0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1601984"/>
            <a:ext cx="3689253" cy="196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7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E88E7-CA56-E2F4-0149-E11CE142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>
            <a:extLst>
              <a:ext uri="{FF2B5EF4-FFF2-40B4-BE49-F238E27FC236}">
                <a16:creationId xmlns:a16="http://schemas.microsoft.com/office/drawing/2014/main" id="{46204739-CA68-ACD6-5536-A191D0BE6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"/>
            <a:ext cx="1600200" cy="24926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4AB2069-080E-F793-1FC2-7D9A750B4DF2}"/>
              </a:ext>
            </a:extLst>
          </p:cNvPr>
          <p:cNvSpPr txBox="1"/>
          <p:nvPr/>
        </p:nvSpPr>
        <p:spPr>
          <a:xfrm>
            <a:off x="54864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000" b="1" kern="0" spc="300" noProof="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07  ·  </a:t>
            </a:r>
            <a:r>
              <a:rPr lang="es-AR" sz="1000" b="1" kern="0" spc="300" dirty="0">
                <a:solidFill>
                  <a:srgbClr val="21A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VACLOG</a:t>
            </a:r>
            <a:endParaRPr lang="es-AR" sz="1000" noProof="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28CEE13-F4EB-148E-9C12-A9F333875C14}"/>
              </a:ext>
            </a:extLst>
          </p:cNvPr>
          <p:cNvSpPr txBox="1"/>
          <p:nvPr/>
        </p:nvSpPr>
        <p:spPr>
          <a:xfrm>
            <a:off x="54864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s-AR" sz="2200" b="1" dirty="0">
                <a:solidFill>
                  <a:srgbClr val="FFFFFF"/>
                </a:solidFill>
                <a:latin typeface="Montserrat" pitchFamily="34" charset="0"/>
              </a:rPr>
              <a:t>Seguimiento </a:t>
            </a:r>
            <a:endParaRPr lang="es-AR" sz="2200" noProof="0" dirty="0"/>
          </a:p>
          <a:p>
            <a:pPr marL="0" indent="0">
              <a:lnSpc>
                <a:spcPct val="95000"/>
              </a:lnSpc>
              <a:buNone/>
            </a:pPr>
            <a:r>
              <a:rPr lang="es-AR" sz="22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Gestores.</a:t>
            </a:r>
            <a:endParaRPr lang="es-AR" sz="2200" noProof="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ABD4F92-D2F7-6B7A-7F91-6E5796914100}"/>
              </a:ext>
            </a:extLst>
          </p:cNvPr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68C0099-0C50-506F-ABA5-501819C37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112264"/>
            <a:ext cx="201168" cy="20116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C19AD0A-3851-0534-A66E-347F3A1178FF}"/>
              </a:ext>
            </a:extLst>
          </p:cNvPr>
          <p:cNvSpPr txBox="1"/>
          <p:nvPr/>
        </p:nvSpPr>
        <p:spPr>
          <a:xfrm>
            <a:off x="1097280" y="19933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Desafío</a:t>
            </a:r>
            <a:endParaRPr lang="es-AR" sz="1100" noProof="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78DDC6C-AF20-1346-6CAE-5D2F95EA3706}"/>
              </a:ext>
            </a:extLst>
          </p:cNvPr>
          <p:cNvSpPr txBox="1"/>
          <p:nvPr/>
        </p:nvSpPr>
        <p:spPr>
          <a:xfrm>
            <a:off x="1097280" y="22402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Dificultad para controlar las actividades de los gestores, comprobantes de viáticos y viajes.</a:t>
            </a:r>
            <a:endParaRPr lang="es-AR" sz="950" noProof="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EDCC29F-EE1F-9606-04BA-04A40481752B}"/>
              </a:ext>
            </a:extLst>
          </p:cNvPr>
          <p:cNvSpPr/>
          <p:nvPr/>
        </p:nvSpPr>
        <p:spPr>
          <a:xfrm>
            <a:off x="548640" y="2862072"/>
            <a:ext cx="402336" cy="40233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8F96EE81-799F-6044-FFEC-B24925E6B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2962656"/>
            <a:ext cx="201168" cy="201168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023B29AE-E838-CAC8-502A-73F0D0E4E0AC}"/>
              </a:ext>
            </a:extLst>
          </p:cNvPr>
          <p:cNvSpPr txBox="1"/>
          <p:nvPr/>
        </p:nvSpPr>
        <p:spPr>
          <a:xfrm>
            <a:off x="1097280" y="2843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</a:t>
            </a:r>
            <a:endParaRPr lang="es-AR" sz="1100" noProof="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D8A0589-221B-7F15-8F89-839421FEBF17}"/>
              </a:ext>
            </a:extLst>
          </p:cNvPr>
          <p:cNvSpPr txBox="1"/>
          <p:nvPr/>
        </p:nvSpPr>
        <p:spPr>
          <a:xfrm>
            <a:off x="10972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dirty="0">
                <a:solidFill>
                  <a:srgbClr val="C9D8F0"/>
                </a:solidFill>
                <a:latin typeface="Inter" pitchFamily="34" charset="0"/>
                <a:ea typeface="Inter" pitchFamily="34" charset="-122"/>
              </a:rPr>
              <a:t>Se creo una aplicación </a:t>
            </a:r>
            <a:r>
              <a:rPr lang="es-AR" sz="950" dirty="0" err="1">
                <a:solidFill>
                  <a:srgbClr val="C9D8F0"/>
                </a:solidFill>
                <a:latin typeface="Inter" pitchFamily="34" charset="0"/>
                <a:ea typeface="Inter" pitchFamily="34" charset="-122"/>
              </a:rPr>
              <a:t>mobile</a:t>
            </a:r>
            <a:r>
              <a:rPr lang="es-AR" sz="950" dirty="0">
                <a:solidFill>
                  <a:srgbClr val="C9D8F0"/>
                </a:solidFill>
                <a:latin typeface="Inter" pitchFamily="34" charset="0"/>
                <a:ea typeface="Inter" pitchFamily="34" charset="-122"/>
              </a:rPr>
              <a:t> que se instala en los teléfonos de los gestores que muestra la trazabilidad de sus tramites.</a:t>
            </a:r>
            <a:endParaRPr lang="es-AR" sz="950" noProof="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1EB6C56-6B7A-A8A6-1B50-6FCC0CF73E5A}"/>
              </a:ext>
            </a:extLst>
          </p:cNvPr>
          <p:cNvSpPr/>
          <p:nvPr/>
        </p:nvSpPr>
        <p:spPr>
          <a:xfrm>
            <a:off x="548640" y="3803906"/>
            <a:ext cx="402336" cy="40233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7788E84C-749E-B529-BD29-B6A0022635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904490"/>
            <a:ext cx="201168" cy="201168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1DDFB918-8601-1F0D-7E68-8A6146A0C330}"/>
              </a:ext>
            </a:extLst>
          </p:cNvPr>
          <p:cNvSpPr txBox="1"/>
          <p:nvPr/>
        </p:nvSpPr>
        <p:spPr>
          <a:xfrm>
            <a:off x="1097280" y="378561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s-AR" sz="1100" noProof="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5AFFD60-6A3A-12E4-00A9-994A8DE3C9E5}"/>
              </a:ext>
            </a:extLst>
          </p:cNvPr>
          <p:cNvSpPr txBox="1"/>
          <p:nvPr/>
        </p:nvSpPr>
        <p:spPr>
          <a:xfrm>
            <a:off x="1097280" y="403250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AR" sz="95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Reducción de falsos tickets, mayor control de viáticos.</a:t>
            </a:r>
            <a:endParaRPr lang="es-AR" sz="950" noProof="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20882C3F-074A-DF27-3A98-0684F60523F7}"/>
              </a:ext>
            </a:extLst>
          </p:cNvPr>
          <p:cNvSpPr/>
          <p:nvPr/>
        </p:nvSpPr>
        <p:spPr>
          <a:xfrm>
            <a:off x="466344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6D0CC">
                <a:alpha val="65000"/>
              </a:srgbClr>
            </a:solidFill>
            <a:prstDash val="solid"/>
          </a:ln>
          <a:effectLst>
            <a:outerShdw blurRad="1524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603E0F0-1514-55B4-1FD8-C78AB78EC0B7}"/>
              </a:ext>
            </a:extLst>
          </p:cNvPr>
          <p:cNvSpPr/>
          <p:nvPr/>
        </p:nvSpPr>
        <p:spPr>
          <a:xfrm>
            <a:off x="4809744" y="1197864"/>
            <a:ext cx="82296" cy="82296"/>
          </a:xfrm>
          <a:prstGeom prst="ellipse">
            <a:avLst/>
          </a:prstGeom>
          <a:solidFill>
            <a:srgbClr val="36D0CC"/>
          </a:solidFill>
          <a:ln w="12700">
            <a:solidFill>
              <a:srgbClr val="36D0C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D6B0BAC9-97D2-7B6D-6115-922CF8DE4018}"/>
              </a:ext>
            </a:extLst>
          </p:cNvPr>
          <p:cNvSpPr/>
          <p:nvPr/>
        </p:nvSpPr>
        <p:spPr>
          <a:xfrm>
            <a:off x="4946904" y="1197864"/>
            <a:ext cx="82296" cy="82296"/>
          </a:xfrm>
          <a:prstGeom prst="ellipse">
            <a:avLst/>
          </a:prstGeom>
          <a:solidFill>
            <a:srgbClr val="21A8E8"/>
          </a:solidFill>
          <a:ln w="12700">
            <a:solidFill>
              <a:srgbClr val="21A8E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C92E3198-A002-655F-9346-BC670332FF84}"/>
              </a:ext>
            </a:extLst>
          </p:cNvPr>
          <p:cNvSpPr/>
          <p:nvPr/>
        </p:nvSpPr>
        <p:spPr>
          <a:xfrm>
            <a:off x="5084064" y="1197864"/>
            <a:ext cx="82296" cy="82296"/>
          </a:xfrm>
          <a:prstGeom prst="ellipse">
            <a:avLst/>
          </a:prstGeom>
          <a:solidFill>
            <a:srgbClr val="0F56C4"/>
          </a:solidFill>
          <a:ln w="12700">
            <a:solidFill>
              <a:srgbClr val="0F56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15563DFB-8A78-0062-D687-D9934C7B8AE9}"/>
              </a:ext>
            </a:extLst>
          </p:cNvPr>
          <p:cNvSpPr/>
          <p:nvPr/>
        </p:nvSpPr>
        <p:spPr>
          <a:xfrm>
            <a:off x="4663440" y="1380744"/>
            <a:ext cx="3931920" cy="0"/>
          </a:xfrm>
          <a:prstGeom prst="line">
            <a:avLst/>
          </a:prstGeom>
          <a:noFill/>
          <a:ln w="9525">
            <a:solidFill>
              <a:srgbClr val="36D0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DF38A07B-B044-5C11-3B38-C200E1AB2DF8}"/>
              </a:ext>
            </a:extLst>
          </p:cNvPr>
          <p:cNvSpPr/>
          <p:nvPr/>
        </p:nvSpPr>
        <p:spPr>
          <a:xfrm>
            <a:off x="4727448" y="1444752"/>
            <a:ext cx="3803904" cy="2331720"/>
          </a:xfrm>
          <a:prstGeom prst="roundRect">
            <a:avLst>
              <a:gd name="adj" fmla="val 2353"/>
            </a:avLst>
          </a:prstGeom>
          <a:solidFill>
            <a:srgbClr val="0A1E5E">
              <a:alpha val="60000"/>
            </a:srgbClr>
          </a:solidFill>
          <a:ln w="9525">
            <a:solidFill>
              <a:srgbClr val="36D0CC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C9BE4075-C723-A2DE-2326-4E15C273B7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2226564"/>
            <a:ext cx="384048" cy="384048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0BD1E28F-C27B-E599-CB7C-8ECB7BF999C0}"/>
              </a:ext>
            </a:extLst>
          </p:cNvPr>
          <p:cNvSpPr txBox="1"/>
          <p:nvPr/>
        </p:nvSpPr>
        <p:spPr>
          <a:xfrm>
            <a:off x="4727448" y="27020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noProof="0" dirty="0">
                <a:solidFill>
                  <a:srgbClr val="8FA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reservado para captura del sistema</a:t>
            </a:r>
            <a:endParaRPr lang="es-AR" sz="1000" noProof="0" dirty="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9DB3C067-5DEF-A8A4-FA8F-18AB113B7814}"/>
              </a:ext>
            </a:extLst>
          </p:cNvPr>
          <p:cNvSpPr/>
          <p:nvPr/>
        </p:nvSpPr>
        <p:spPr>
          <a:xfrm>
            <a:off x="4663440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364C03E8-2047-C17A-D90E-5D2A356C5585}"/>
              </a:ext>
            </a:extLst>
          </p:cNvPr>
          <p:cNvSpPr txBox="1"/>
          <p:nvPr/>
        </p:nvSpPr>
        <p:spPr>
          <a:xfrm>
            <a:off x="4663440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</a:t>
            </a:r>
            <a:endParaRPr lang="es-AR" sz="900" noProof="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61EB3F21-3B93-21B3-5D22-63BAE2799D35}"/>
              </a:ext>
            </a:extLst>
          </p:cNvPr>
          <p:cNvSpPr/>
          <p:nvPr/>
        </p:nvSpPr>
        <p:spPr>
          <a:xfrm>
            <a:off x="5815584" y="40965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8F76B247-875A-4AF5-C454-80B93F821F02}"/>
              </a:ext>
            </a:extLst>
          </p:cNvPr>
          <p:cNvSpPr txBox="1"/>
          <p:nvPr/>
        </p:nvSpPr>
        <p:spPr>
          <a:xfrm>
            <a:off x="5815584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de sistemas</a:t>
            </a:r>
            <a:endParaRPr lang="es-AR" sz="900" noProof="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1A52A3AC-9BF8-1A41-3C0E-ED9CB12A0F12}"/>
              </a:ext>
            </a:extLst>
          </p:cNvPr>
          <p:cNvSpPr/>
          <p:nvPr/>
        </p:nvSpPr>
        <p:spPr>
          <a:xfrm>
            <a:off x="7461504" y="4096512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36D0CC">
              <a:alpha val="14000"/>
            </a:srgbClr>
          </a:solidFill>
          <a:ln w="9525">
            <a:solidFill>
              <a:srgbClr val="36D0C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51E1F6B6-3FF2-6607-4191-241C840E9881}"/>
              </a:ext>
            </a:extLst>
          </p:cNvPr>
          <p:cNvSpPr txBox="1"/>
          <p:nvPr/>
        </p:nvSpPr>
        <p:spPr>
          <a:xfrm>
            <a:off x="7461504" y="4096512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b="1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Administración</a:t>
            </a:r>
            <a:endParaRPr lang="es-AR" sz="900" noProof="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5899AA9B-E1C3-D75A-EDDD-F39D7FCEC3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5676" y="1664210"/>
            <a:ext cx="3699100" cy="178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73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4b_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640080"/>
            <a:ext cx="2377440" cy="3703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25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s-AR" sz="3400" b="1" noProof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operación puede ser</a:t>
            </a:r>
            <a:endParaRPr lang="es-AR" sz="3400" noProof="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s-AR" sz="3400" b="1" noProof="0" dirty="0">
                <a:solidFill>
                  <a:srgbClr val="36D0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nuestro próximo caso de éxito.</a:t>
            </a:r>
            <a:endParaRPr lang="es-AR" sz="3400" noProof="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300" noProof="0" dirty="0" err="1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Contanos</a:t>
            </a:r>
            <a:r>
              <a:rPr lang="es-AR" sz="1300" noProof="0" dirty="0">
                <a:solidFill>
                  <a:srgbClr val="C9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 desafío y te proponemos un camino concreto, medible y a tu medida.</a:t>
            </a:r>
            <a:endParaRPr lang="es-AR" sz="130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41788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346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www.agentic4biz.com</a:t>
            </a:r>
            <a:endParaRPr lang="es-AR" sz="120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17880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035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200" noProof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@agentic4biz</a:t>
            </a:r>
            <a:endParaRPr lang="es-AR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1201</Words>
  <Application>Microsoft Office PowerPoint</Application>
  <PresentationFormat>Presentación en pantalla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Inter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Agentic4Biz — Casos de éxito</dc:title>
  <dc:subject>PptxGenJS Presentation</dc:subject>
  <dc:creator>Agentic4Biz</dc:creator>
  <cp:lastModifiedBy>VACLOG - Alejandro Sagula</cp:lastModifiedBy>
  <cp:revision>5</cp:revision>
  <dcterms:created xsi:type="dcterms:W3CDTF">2026-09-10T17:48:21Z</dcterms:created>
  <dcterms:modified xsi:type="dcterms:W3CDTF">2026-09-18T14:55:58Z</dcterms:modified>
</cp:coreProperties>
</file>